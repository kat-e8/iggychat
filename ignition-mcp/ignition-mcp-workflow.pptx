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48840"/>
            <a:ext cx="1188720" cy="45720"/>
          </a:xfrm>
          <a:prstGeom prst="rect">
            <a:avLst/>
          </a:prstGeom>
          <a:solidFill>
            <a:srgbClr val="E2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8FB9B4"/>
                </a:solidFill>
                <a:latin typeface="Segoe UI Semibold"/>
              </a:rPr>
              <a:t>IGNITION MCP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31720"/>
            <a:ext cx="10789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 Semibold"/>
              </a:rPr>
              <a:t>How Claude, MCP, and the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 Semibold"/>
              </a:rPr>
              <a:t>Ignition Gateway work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9CBC8"/>
                </a:solidFill>
                <a:latin typeface="Segoe UI Light"/>
              </a:rPr>
              <a:t>Components, protocol, and a step-by-step trace of a live request — from a plain-English ask in VS Code to a value read off the plant floor.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32120"/>
            <a:ext cx="937260" cy="4572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F6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50992"/>
            <a:ext cx="9372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0F6E68"/>
                </a:solidFill>
                <a:latin typeface="Consolas"/>
              </a:rPr>
              <a:t>VS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78508" y="5532120"/>
            <a:ext cx="832104" cy="4572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29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78508" y="5650992"/>
            <a:ext cx="832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E2963C"/>
                </a:solidFill>
                <a:latin typeface="Consolas"/>
              </a:rPr>
              <a:t>Claude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1780" y="5532120"/>
            <a:ext cx="1252728" cy="4572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F6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1780" y="5650992"/>
            <a:ext cx="1252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0F6E68"/>
                </a:solidFill>
                <a:latin typeface="Consolas"/>
              </a:rPr>
              <a:t>MCP Client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5676" y="5532120"/>
            <a:ext cx="1252728" cy="4572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29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5676" y="5650992"/>
            <a:ext cx="1252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E2963C"/>
                </a:solidFill>
                <a:latin typeface="Consolas"/>
              </a:rPr>
              <a:t>MCP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9572" y="5532120"/>
            <a:ext cx="1883664" cy="4572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F6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9572" y="5650992"/>
            <a:ext cx="1883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0F6E68"/>
                </a:solidFill>
                <a:latin typeface="Consolas"/>
              </a:rPr>
              <a:t>Ignition Gateway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6A1C"/>
                </a:solidFill>
                <a:latin typeface="Segoe UI Semibold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11F"/>
                </a:solidFill>
                <a:latin typeface="Segoe UI Semibold"/>
              </a:rPr>
              <a:t>Five components, one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E2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1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8760"/>
            <a:ext cx="10908792" cy="49265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C7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6A1C"/>
                </a:solidFill>
                <a:latin typeface="Segoe UI Semibold"/>
              </a:rPr>
              <a:t>CONCEPT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11F"/>
                </a:solidFill>
                <a:latin typeface="Segoe UI Semibold"/>
              </a:rPr>
              <a:t>What is an agent?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E2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126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6211F"/>
                </a:solidFill>
                <a:latin typeface="Segoe UI Light"/>
              </a:rPr>
              <a:t>An agent is a model given a reasoning loop and a set of tools, rather than a single question-and-answer pass.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61264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 b="1">
                <a:solidFill>
                  <a:srgbClr val="E2963C"/>
                </a:solidFill>
                <a:latin typeface="Segoe UI"/>
              </a:rPr>
              <a:t>—  </a:t>
            </a:r>
            <a:r>
              <a:rPr sz="1550" b="1">
                <a:solidFill>
                  <a:srgbClr val="16211F"/>
                </a:solidFill>
                <a:latin typeface="Segoe UI"/>
              </a:rPr>
              <a:t>Reads the request. </a:t>
            </a:r>
            <a:r>
              <a:rPr sz="1550">
                <a:solidFill>
                  <a:srgbClr val="16211F"/>
                </a:solidFill>
                <a:latin typeface="Segoe UI"/>
              </a:rPr>
              <a:t>Understands the ask in the context of the whole conversation, not just the last message.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 b="1">
                <a:solidFill>
                  <a:srgbClr val="E2963C"/>
                </a:solidFill>
                <a:latin typeface="Segoe UI"/>
              </a:rPr>
              <a:t>—  </a:t>
            </a:r>
            <a:r>
              <a:rPr sz="1550" b="1">
                <a:solidFill>
                  <a:srgbClr val="16211F"/>
                </a:solidFill>
                <a:latin typeface="Segoe UI"/>
              </a:rPr>
              <a:t>Chooses a tool. </a:t>
            </a:r>
            <a:r>
              <a:rPr sz="1550">
                <a:solidFill>
                  <a:srgbClr val="16211F"/>
                </a:solidFill>
                <a:latin typeface="Segoe UI"/>
              </a:rPr>
              <a:t>Decides which of the 37 registered ignition-mcp tools (if any) the request needs, and with what arguments.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 b="1">
                <a:solidFill>
                  <a:srgbClr val="E2963C"/>
                </a:solidFill>
                <a:latin typeface="Segoe UI"/>
              </a:rPr>
              <a:t>—  </a:t>
            </a:r>
            <a:r>
              <a:rPr sz="1550" b="1">
                <a:solidFill>
                  <a:srgbClr val="16211F"/>
                </a:solidFill>
                <a:latin typeface="Segoe UI"/>
              </a:rPr>
              <a:t>Reads the result. </a:t>
            </a:r>
            <a:r>
              <a:rPr sz="1550">
                <a:solidFill>
                  <a:srgbClr val="16211F"/>
                </a:solidFill>
                <a:latin typeface="Segoe UI"/>
              </a:rPr>
              <a:t>Interprets the tool's structured JSON reply — including errors — before deciding what to do next.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 b="1">
                <a:solidFill>
                  <a:srgbClr val="E2963C"/>
                </a:solidFill>
                <a:latin typeface="Segoe UI"/>
              </a:rPr>
              <a:t>—  </a:t>
            </a:r>
            <a:r>
              <a:rPr sz="1550" b="1">
                <a:solidFill>
                  <a:srgbClr val="16211F"/>
                </a:solidFill>
                <a:latin typeface="Segoe UI"/>
              </a:rPr>
              <a:t>Loops when needed. </a:t>
            </a:r>
            <a:r>
              <a:rPr sz="1550">
                <a:solidFill>
                  <a:srgbClr val="16211F"/>
                </a:solidFill>
                <a:latin typeface="Segoe UI"/>
              </a:rPr>
              <a:t>A single request can trigger many tool calls in sequence: read logs, diagnose, fix, re-verify.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 b="1">
                <a:solidFill>
                  <a:srgbClr val="E2963C"/>
                </a:solidFill>
                <a:latin typeface="Segoe UI"/>
              </a:rPr>
              <a:t>—  </a:t>
            </a:r>
            <a:r>
              <a:rPr sz="1550" b="1">
                <a:solidFill>
                  <a:srgbClr val="16211F"/>
                </a:solidFill>
                <a:latin typeface="Segoe UI"/>
              </a:rPr>
              <a:t>Formulates the answer. </a:t>
            </a:r>
            <a:r>
              <a:rPr sz="1550">
                <a:solidFill>
                  <a:srgbClr val="16211F"/>
                </a:solidFill>
                <a:latin typeface="Segoe UI"/>
              </a:rPr>
              <a:t>Only once it has real data does it write the natural-language reply back to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508760"/>
            <a:ext cx="4462272" cy="4572000"/>
          </a:xfrm>
          <a:prstGeom prst="roundRect">
            <a:avLst>
              <a:gd name="adj" fmla="val 6000"/>
            </a:avLst>
          </a:prstGeom>
          <a:solidFill>
            <a:srgbClr val="16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1636776"/>
            <a:ext cx="409651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2963C"/>
                </a:solidFill>
                <a:latin typeface="Consolas"/>
              </a:rPr>
              <a:t>AGENT = CLAUDE + TOOL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1929384"/>
            <a:ext cx="4059935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7E8E5"/>
                </a:solidFill>
                <a:latin typeface="Consolas"/>
              </a:rPr>
              <a:t>In this session, "Claude" is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7E8E5"/>
                </a:solidFill>
                <a:latin typeface="Consolas"/>
              </a:rPr>
              <a:t>that reasoning loop.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7E8E5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7E8E5"/>
                </a:solidFill>
                <a:latin typeface="Consolas"/>
              </a:rPr>
              <a:t>It never talks to the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7E8E5"/>
                </a:solidFill>
                <a:latin typeface="Consolas"/>
              </a:rPr>
              <a:t>Ignition Gateway directly —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7E8E5"/>
                </a:solidFill>
                <a:latin typeface="Consolas"/>
              </a:rPr>
              <a:t>every fact it states came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7E8E5"/>
                </a:solidFill>
                <a:latin typeface="Consolas"/>
              </a:rPr>
              <a:t>back through a tool call.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7E8E5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7E8E5"/>
                </a:solidFill>
                <a:latin typeface="Consolas"/>
              </a:rPr>
              <a:t>Example: to answer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7E8E5"/>
                </a:solidFill>
                <a:latin typeface="Consolas"/>
              </a:rPr>
              <a:t>"what's Ramp0 worth?",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7E8E5"/>
                </a:solidFill>
                <a:latin typeface="Consolas"/>
              </a:rPr>
              <a:t>it called read_tags,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7E8E5"/>
                </a:solidFill>
                <a:latin typeface="Consolas"/>
              </a:rPr>
              <a:t>not a database query it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7E8E5"/>
                </a:solidFill>
                <a:latin typeface="Consolas"/>
              </a:rPr>
              <a:t>wrote itself.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Concepts —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C7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6A1C"/>
                </a:solidFill>
                <a:latin typeface="Segoe UI Semibold"/>
              </a:rPr>
              <a:t>CONCEPT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11F"/>
                </a:solidFill>
                <a:latin typeface="Segoe UI Semibold"/>
              </a:rPr>
              <a:t>What is an MCP tool?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E2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6211F"/>
                </a:solidFill>
                <a:latin typeface="Segoe UI Light"/>
              </a:rPr>
              <a:t>A tool is a typed function the server exposes, with a name, a description, and a JSON Schema for its arguments — that's what the agent actually reads.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50" b="1">
                <a:solidFill>
                  <a:srgbClr val="0F6E68"/>
                </a:solidFill>
                <a:latin typeface="Segoe UI"/>
              </a:rPr>
              <a:t>—  </a:t>
            </a:r>
            <a:r>
              <a:rPr sz="1550" b="1">
                <a:solidFill>
                  <a:srgbClr val="16211F"/>
                </a:solidFill>
                <a:latin typeface="Segoe UI"/>
              </a:rPr>
              <a:t>Name. </a:t>
            </a:r>
            <a:r>
              <a:rPr sz="1550">
                <a:solidFill>
                  <a:srgbClr val="16211F"/>
                </a:solidFill>
                <a:latin typeface="Segoe UI"/>
              </a:rPr>
              <a:t>read_tags — one of 37 tools this server registers.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50" b="1">
                <a:solidFill>
                  <a:srgbClr val="0F6E68"/>
                </a:solidFill>
                <a:latin typeface="Segoe UI"/>
              </a:rPr>
              <a:t>—  </a:t>
            </a:r>
            <a:r>
              <a:rPr sz="1550" b="1">
                <a:solidFill>
                  <a:srgbClr val="16211F"/>
                </a:solidFill>
                <a:latin typeface="Segoe UI"/>
              </a:rPr>
              <a:t>Description. </a:t>
            </a:r>
            <a:r>
              <a:rPr sz="1550">
                <a:solidFill>
                  <a:srgbClr val="16211F"/>
                </a:solidFill>
                <a:latin typeface="Segoe UI"/>
              </a:rPr>
              <a:t>Plain-English explanation the agent uses to decide *when* to call it.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50" b="1">
                <a:solidFill>
                  <a:srgbClr val="0F6E68"/>
                </a:solidFill>
                <a:latin typeface="Segoe UI"/>
              </a:rPr>
              <a:t>—  </a:t>
            </a:r>
            <a:r>
              <a:rPr sz="1550" b="1">
                <a:solidFill>
                  <a:srgbClr val="16211F"/>
                </a:solidFill>
                <a:latin typeface="Segoe UI"/>
              </a:rPr>
              <a:t>Schema. </a:t>
            </a:r>
            <a:r>
              <a:rPr sz="1550">
                <a:solidFill>
                  <a:srgbClr val="16211F"/>
                </a:solidFill>
                <a:latin typeface="Segoe UI"/>
              </a:rPr>
              <a:t>tag_paths: array of strings, max 100 — the agent must match this exactly.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50" b="1">
                <a:solidFill>
                  <a:srgbClr val="0F6E68"/>
                </a:solidFill>
                <a:latin typeface="Segoe UI"/>
              </a:rPr>
              <a:t>—  </a:t>
            </a:r>
            <a:r>
              <a:rPr sz="1550" b="1">
                <a:solidFill>
                  <a:srgbClr val="16211F"/>
                </a:solidFill>
                <a:latin typeface="Segoe UI"/>
              </a:rPr>
              <a:t>Implementation. </a:t>
            </a:r>
            <a:r>
              <a:rPr sz="1550">
                <a:solidFill>
                  <a:srgbClr val="16211F"/>
                </a:solidFill>
                <a:latin typeface="Segoe UI"/>
              </a:rPr>
              <a:t>Python function in tools/tags.py that talks to the gateway and returns 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508760"/>
            <a:ext cx="4645152" cy="4572000"/>
          </a:xfrm>
          <a:prstGeom prst="roundRect">
            <a:avLst>
              <a:gd name="adj" fmla="val 6000"/>
            </a:avLst>
          </a:prstGeom>
          <a:solidFill>
            <a:srgbClr val="16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04888" y="1636776"/>
            <a:ext cx="42793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2963C"/>
                </a:solidFill>
                <a:latin typeface="Consolas"/>
              </a:rPr>
              <a:t>TOOL DEFINITION  ·  what the agent sees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4888" y="1929384"/>
            <a:ext cx="4242816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{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"name": "read_tags",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"description": "Read runtime values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  of one or more Ignition tags.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  Returns {path, value, quality,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  timestamp} for each tag.",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"inputSchema": {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  "tag_paths": {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    "type": "array",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    "items": {"type": "string"},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    "maxItems": 100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  }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}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Concepts —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C7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6A1C"/>
                </a:solidFill>
                <a:latin typeface="Segoe UI Semibold"/>
              </a:rPr>
              <a:t>CONCEPT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11F"/>
                </a:solidFill>
                <a:latin typeface="Segoe UI Semibold"/>
              </a:rPr>
              <a:t>The protocol connecting them: MCP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E2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6211F"/>
                </a:solidFill>
                <a:latin typeface="Segoe UI Light"/>
              </a:rPr>
              <a:t>Model Context Protocol — a JSON-RPC 2.0 contract for how a client and a tool server talk. Two different transports carry it across the two hops in this system.</a:t>
            </a:r>
          </a:p>
        </p:txBody>
      </p:sp>
      <p:pic>
        <p:nvPicPr>
          <p:cNvPr id="6" name="Picture 5" descr="d2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10908792" cy="45746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Concepts —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C7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6A1C"/>
                </a:solidFill>
                <a:latin typeface="Segoe UI Semibold"/>
              </a:rPr>
              <a:t>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11F"/>
                </a:solidFill>
                <a:latin typeface="Segoe UI Semibold"/>
              </a:rPr>
              <a:t>Claude Code — agent host + MCP client, in VS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E2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61264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0F6E68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F"/>
                </a:solidFill>
                <a:latin typeface="Segoe UI"/>
              </a:rPr>
              <a:t>Runs inside VS Code. </a:t>
            </a:r>
            <a:r>
              <a:rPr sz="1500">
                <a:solidFill>
                  <a:srgbClr val="16211F"/>
                </a:solidFill>
                <a:latin typeface="Segoe UI"/>
              </a:rPr>
              <a:t>The IDE this whole session happened in — you saw file-open notifications for config.py, main.py, docs, the log file — that's VS Code telling Claude Code what you have open.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0F6E68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F"/>
                </a:solidFill>
                <a:latin typeface="Segoe UI"/>
              </a:rPr>
              <a:t>Hosts the agent loop. </a:t>
            </a:r>
            <a:r>
              <a:rPr sz="1500">
                <a:solidFill>
                  <a:srgbClr val="16211F"/>
                </a:solidFill>
                <a:latin typeface="Segoe UI"/>
              </a:rPr>
              <a:t>Sends your messages and the conversation history to Claude, gets back either a reply or a tool call to make.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0F6E68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F"/>
                </a:solidFill>
                <a:latin typeface="Segoe UI"/>
              </a:rPr>
              <a:t>Is also the MCP client. </a:t>
            </a:r>
            <a:r>
              <a:rPr sz="1500">
                <a:solidFill>
                  <a:srgbClr val="16211F"/>
                </a:solidFill>
                <a:latin typeface="Segoe UI"/>
              </a:rPr>
              <a:t>Reads .mcp.json, which says: run "uv run --no-sync python mcp_server.py --transport stdio" and talk to it as an MCP server.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0F6E68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F"/>
                </a:solidFill>
                <a:latin typeface="Segoe UI"/>
              </a:rPr>
              <a:t>Owns the connection lifecycle. </a:t>
            </a:r>
            <a:r>
              <a:rPr sz="1500">
                <a:solidFill>
                  <a:srgbClr val="16211F"/>
                </a:solidFill>
                <a:latin typeface="Segoe UI"/>
              </a:rPr>
              <a:t>Spawned the ignition-mcp subprocess once at session start — which is exactly why a Designer-side or repo-side code fix needed a manual /mcp reconnect to actually take effect.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1600200"/>
            <a:ext cx="4462272" cy="4023360"/>
          </a:xfrm>
          <a:prstGeom prst="roundRect">
            <a:avLst>
              <a:gd name="adj" fmla="val 6000"/>
            </a:avLst>
          </a:prstGeom>
          <a:solidFill>
            <a:srgbClr val="16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87768" y="1728216"/>
            <a:ext cx="409651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2963C"/>
                </a:solidFill>
                <a:latin typeface="Consolas"/>
              </a:rPr>
              <a:t>HOW CLAUDE CODE FINDS THE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7768" y="2020824"/>
            <a:ext cx="4059935" cy="3493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7E8E5"/>
                </a:solidFill>
                <a:latin typeface="Consolas"/>
              </a:rPr>
              <a:t>.mcp.json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7E8E5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7E8E5"/>
                </a:solidFill>
                <a:latin typeface="Consolas"/>
              </a:rPr>
              <a:t>{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7E8E5"/>
                </a:solidFill>
                <a:latin typeface="Consolas"/>
              </a:rPr>
              <a:t>  "mcpServers": {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7E8E5"/>
                </a:solidFill>
                <a:latin typeface="Consolas"/>
              </a:rPr>
              <a:t>    "ignition-mcp": {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7E8E5"/>
                </a:solidFill>
                <a:latin typeface="Consolas"/>
              </a:rPr>
              <a:t>      "command": "uv",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7E8E5"/>
                </a:solidFill>
                <a:latin typeface="Consolas"/>
              </a:rPr>
              <a:t>      "args": ["run", "--no-sync",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7E8E5"/>
                </a:solidFill>
                <a:latin typeface="Consolas"/>
              </a:rPr>
              <a:t>        "python", "mcp_server.py",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7E8E5"/>
                </a:solidFill>
                <a:latin typeface="Consolas"/>
              </a:rPr>
              <a:t>        "--transport", "stdio"]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7E8E5"/>
                </a:solidFill>
                <a:latin typeface="Consolas"/>
              </a:rPr>
              <a:t>    }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7E8E5"/>
                </a:solidFill>
                <a:latin typeface="Consolas"/>
              </a:rPr>
              <a:t>  }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7E8E5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Components — Claude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C7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6A1C"/>
                </a:solidFill>
                <a:latin typeface="Segoe UI Semibold"/>
              </a:rPr>
              <a:t>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11F"/>
                </a:solidFill>
                <a:latin typeface="Segoe UI Semibold"/>
              </a:rPr>
              <a:t>MCP Server — ignition-mcp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E2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61264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16211F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F"/>
                </a:solidFill>
                <a:latin typeface="Segoe UI"/>
              </a:rPr>
              <a:t>A real OS process. </a:t>
            </a:r>
            <a:r>
              <a:rPr sz="1500">
                <a:solidFill>
                  <a:srgbClr val="16211F"/>
                </a:solidFill>
                <a:latin typeface="Segoe UI"/>
              </a:rPr>
              <a:t>mcp_server.py, built on the FastMCP framework — separate from VS Code and Claude Code entirely.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16211F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F"/>
                </a:solidFill>
                <a:latin typeface="Segoe UI"/>
              </a:rPr>
              <a:t>Registers 37 tools. </a:t>
            </a:r>
            <a:r>
              <a:rPr sz="1500">
                <a:solidFill>
                  <a:srgbClr val="16211F"/>
                </a:solidFill>
                <a:latin typeface="Segoe UI"/>
              </a:rPr>
              <a:t>tools/__init__.py:register_all() wires up gateway.py, projects.py, tags.py, alarms.py, historian.py, and more, each contributing tools.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16211F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F"/>
                </a:solidFill>
                <a:latin typeface="Segoe UI"/>
              </a:rPr>
              <a:t>Owns one shared client. </a:t>
            </a:r>
            <a:r>
              <a:rPr sz="1500">
                <a:solidFill>
                  <a:srgbClr val="16211F"/>
                </a:solidFill>
                <a:latin typeface="Segoe UI"/>
              </a:rPr>
              <a:t>A single IgnitionClient (one httpx.AsyncClient) is created once, in the FastMCP lifespan, and reused by every tool call for the process's lifetime.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16211F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F"/>
                </a:solidFill>
                <a:latin typeface="Segoe UI"/>
              </a:rPr>
              <a:t>Chooses auth. </a:t>
            </a:r>
            <a:r>
              <a:rPr sz="1500">
                <a:solidFill>
                  <a:srgbClr val="16211F"/>
                </a:solidFill>
                <a:latin typeface="Segoe UI"/>
              </a:rPr>
              <a:t>Prefers the X-Ignition-API-Token header if an API key is configured, else falls back to HTTP Basic auth.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16211F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F"/>
                </a:solidFill>
                <a:latin typeface="Segoe UI"/>
              </a:rPr>
              <a:t>Never crashes on a gateway error. </a:t>
            </a:r>
            <a:r>
              <a:rPr sz="1500">
                <a:solidFill>
                  <a:srgbClr val="16211F"/>
                </a:solidFill>
                <a:latin typeface="Segoe UI"/>
              </a:rPr>
              <a:t>Every tool wraps its call in try/except and returns {"error": ...} as a normal result instead.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1600200"/>
            <a:ext cx="4462272" cy="4023360"/>
          </a:xfrm>
          <a:prstGeom prst="roundRect">
            <a:avLst>
              <a:gd name="adj" fmla="val 6000"/>
            </a:avLst>
          </a:prstGeom>
          <a:solidFill>
            <a:srgbClr val="16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87768" y="1728216"/>
            <a:ext cx="409651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2963C"/>
                </a:solidFill>
                <a:latin typeface="Consolas"/>
              </a:rPr>
              <a:t>WHERE THE 37 TOOLS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7768" y="2020824"/>
            <a:ext cx="4059935" cy="3493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src/ignition_mcp/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ignition_client.py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config.py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tools/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  gateway.py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  projects.py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  tags.py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  tag_providers.py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  alarms.py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  historian.py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8E5"/>
                </a:solidFill>
                <a:latin typeface="Consolas"/>
              </a:rPr>
              <a:t>    execution.py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Components — MCP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C7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6A1C"/>
                </a:solidFill>
                <a:latin typeface="Segoe UI Semibold"/>
              </a:rPr>
              <a:t>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11F"/>
                </a:solidFill>
                <a:latin typeface="Segoe UI Semibold"/>
              </a:rPr>
              <a:t>Ignition Gateway — two subsystems, one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E2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3492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F6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A4B47"/>
                </a:solidFill>
                <a:latin typeface="Segoe UI Semibold"/>
              </a:rPr>
              <a:t>NATIVE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C6B68"/>
                </a:solidFill>
                <a:latin typeface="Consolas"/>
              </a:rPr>
              <a:t>/data/api/v1/...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8463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0F6E68"/>
                </a:solidFill>
                <a:latin typeface="Segoe UI"/>
              </a:rPr>
              <a:t>—  </a:t>
            </a:r>
            <a:r>
              <a:rPr sz="1350">
                <a:solidFill>
                  <a:srgbClr val="16211F"/>
                </a:solidFill>
                <a:latin typeface="Segoe UI"/>
              </a:rPr>
              <a:t>Built into the gateway — nothing to deploy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0F6E68"/>
                </a:solidFill>
                <a:latin typeface="Segoe UI"/>
              </a:rPr>
              <a:t>—  </a:t>
            </a:r>
            <a:r>
              <a:rPr sz="1350">
                <a:solidFill>
                  <a:srgbClr val="16211F"/>
                </a:solidFill>
                <a:latin typeface="Segoe UI"/>
              </a:rPr>
              <a:t>Backed by a generic resources/{list,find} framework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0F6E68"/>
                </a:solidFill>
                <a:latin typeface="Segoe UI"/>
              </a:rPr>
              <a:t>—  </a:t>
            </a:r>
            <a:r>
              <a:rPr sz="1350">
                <a:solidFill>
                  <a:srgbClr val="16211F"/>
                </a:solidFill>
                <a:latin typeface="Segoe UI"/>
              </a:rPr>
              <a:t>Config-level data: projects, tag providers, connections, logs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0F6E68"/>
                </a:solidFill>
                <a:latin typeface="Segoe UI"/>
              </a:rPr>
              <a:t>—  </a:t>
            </a:r>
            <a:r>
              <a:rPr sz="1350">
                <a:solidFill>
                  <a:srgbClr val="16211F"/>
                </a:solidFill>
                <a:latin typeface="Segoe UI"/>
              </a:rPr>
              <a:t>Fast, reliable — most bugs here were just wrong URLs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3492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9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96A1C"/>
                </a:solidFill>
                <a:latin typeface="Segoe UI Semibold"/>
              </a:rPr>
              <a:t>WEBDEV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C6B68"/>
                </a:solidFill>
                <a:latin typeface="Consolas"/>
              </a:rPr>
              <a:t>/system/webdev/...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06040"/>
            <a:ext cx="48463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A96A1C"/>
                </a:solidFill>
                <a:latin typeface="Segoe UI"/>
              </a:rPr>
              <a:t>—  </a:t>
            </a:r>
            <a:r>
              <a:rPr sz="1350">
                <a:solidFill>
                  <a:srgbClr val="16211F"/>
                </a:solidFill>
                <a:latin typeface="Segoe UI"/>
              </a:rPr>
              <a:t>Hand-deployed Jython scripts, written in the Designer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A96A1C"/>
                </a:solidFill>
                <a:latin typeface="Segoe UI"/>
              </a:rPr>
              <a:t>—  </a:t>
            </a:r>
            <a:r>
              <a:rPr sz="1350">
                <a:solidFill>
                  <a:srgbClr val="16211F"/>
                </a:solidFill>
                <a:latin typeface="Segoe UI"/>
              </a:rPr>
              <a:t>Runs inside the gateway JVM (Jython 2.7), calls system.tag.*, system.alarm.*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A96A1C"/>
                </a:solidFill>
                <a:latin typeface="Segoe UI"/>
              </a:rPr>
              <a:t>—  </a:t>
            </a:r>
            <a:r>
              <a:rPr sz="1350">
                <a:solidFill>
                  <a:srgbClr val="16211F"/>
                </a:solidFill>
                <a:latin typeface="Segoe UI"/>
              </a:rPr>
              <a:t>Runtime data: tag values, tag CRUD, alarms, history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A96A1C"/>
                </a:solidFill>
                <a:latin typeface="Segoe UI"/>
              </a:rPr>
              <a:t>—  </a:t>
            </a:r>
            <a:r>
              <a:rPr sz="1350">
                <a:solidFill>
                  <a:srgbClr val="16211F"/>
                </a:solidFill>
                <a:latin typeface="Segoe UI"/>
              </a:rPr>
              <a:t>Nearly every bug this session lived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Components — Ignition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C7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6A1C"/>
                </a:solidFill>
                <a:latin typeface="Segoe UI Semibold"/>
              </a:rPr>
              <a:t>TRACING A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11F"/>
                </a:solidFill>
                <a:latin typeface="Segoe UI Semibold"/>
              </a:rPr>
              <a:t>Ten steps, every single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E2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3_trace_gene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08792" cy="56303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Tracing a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C7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6A1C"/>
                </a:solidFill>
                <a:latin typeface="Segoe UI Semibold"/>
              </a:rPr>
              <a:t>WORKED EXAMPLE  ·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11F"/>
                </a:solidFill>
                <a:latin typeface="Segoe UI Semibold"/>
              </a:rPr>
              <a:t>“List the projects on the gateway”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E2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4_example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08792" cy="56303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Worked example — native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C7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6A1C"/>
                </a:solidFill>
                <a:latin typeface="Segoe UI Semibold"/>
              </a:rPr>
              <a:t>WORKED EXAMPLE  ·  01  ·  THE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11F"/>
                </a:solidFill>
                <a:latin typeface="Segoe UI Semibold"/>
              </a:rPr>
              <a:t>What actually came 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E2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16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36776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2963C"/>
                </a:solidFill>
                <a:latin typeface="Consolas"/>
              </a:rPr>
              <a:t>RAW GATEWAY RESPONSE  ·  application/json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29384"/>
            <a:ext cx="5084064" cy="3950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7E8E5"/>
                </a:solidFill>
                <a:latin typeface="Consolas"/>
              </a:rPr>
              <a:t>GET /data/api/v1/projects/list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7E8E5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7E8E5"/>
                </a:solidFill>
                <a:latin typeface="Consolas"/>
              </a:rPr>
              <a:t>{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7E8E5"/>
                </a:solidFill>
                <a:latin typeface="Consolas"/>
              </a:rPr>
              <a:t>  "items": [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7E8E5"/>
                </a:solidFill>
                <a:latin typeface="Consolas"/>
              </a:rPr>
              <a:t>    {"name": "Global",  "enabled": true},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7E8E5"/>
                </a:solidFill>
                <a:latin typeface="Consolas"/>
              </a:rPr>
              <a:t>    {"name": "Test Project", "enabled": true},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7E8E5"/>
                </a:solidFill>
                <a:latin typeface="Consolas"/>
              </a:rPr>
              <a:t>    {"name": "iggy", "enabled": true}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7E8E5"/>
                </a:solidFill>
                <a:latin typeface="Consolas"/>
              </a:rPr>
              <a:t>  ],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7E8E5"/>
                </a:solidFill>
                <a:latin typeface="Consolas"/>
              </a:rPr>
              <a:t>  "metadata": {"total": 3}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7E8E5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50749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0F6E68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F"/>
                </a:solidFill>
                <a:latin typeface="Segoe UI"/>
              </a:rPr>
              <a:t>httpx</a:t>
            </a:r>
            <a:r>
              <a:rPr sz="1500">
                <a:solidFill>
                  <a:srgbClr val="16211F"/>
                </a:solidFill>
                <a:latin typeface="Segoe UI"/>
              </a:rPr>
              <a:t> parses the JSON (content-type is application/json).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0F6E68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F"/>
                </a:solidFill>
                <a:latin typeface="Segoe UI"/>
              </a:rPr>
              <a:t>FastMCP</a:t>
            </a:r>
            <a:r>
              <a:rPr sz="1500">
                <a:solidFill>
                  <a:srgbClr val="16211F"/>
                </a:solidFill>
                <a:latin typeface="Segoe UI"/>
              </a:rPr>
              <a:t> wraps that Python dict as the tool's structured result.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0F6E68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F"/>
                </a:solidFill>
                <a:latin typeface="Segoe UI"/>
              </a:rPr>
              <a:t>The MCP client</a:t>
            </a:r>
            <a:r>
              <a:rPr sz="1500">
                <a:solidFill>
                  <a:srgbClr val="16211F"/>
                </a:solidFill>
                <a:latin typeface="Segoe UI"/>
              </a:rPr>
              <a:t> reads it off the server's stdout as a JSON-RPC response.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0F6E68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F"/>
                </a:solidFill>
                <a:latin typeface="Segoe UI"/>
              </a:rPr>
              <a:t>Claude</a:t>
            </a:r>
            <a:r>
              <a:rPr sz="1500">
                <a:solidFill>
                  <a:srgbClr val="16211F"/>
                </a:solidFill>
                <a:latin typeface="Segoe UI"/>
              </a:rPr>
              <a:t> turns 3 JSON objects into a one-line table: Global, Test Project, iggy — each enabled.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Worked example — native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C7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6A1C"/>
                </a:solidFill>
                <a:latin typeface="Segoe UI Semibold"/>
              </a:rPr>
              <a:t>WORKED EXAMPLE  ·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11F"/>
                </a:solidFill>
                <a:latin typeface="Segoe UI Semibold"/>
              </a:rPr>
              <a:t>“What's the value of [default]Ramp/Ramp0?”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E2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5_example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08792" cy="56303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Worked example — WebDev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C7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6A1C"/>
                </a:solidFill>
                <a:latin typeface="Segoe UI Semibold"/>
              </a:rPr>
              <a:t>WORKED EXAMPLE  ·  02  ·  THE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11F"/>
                </a:solidFill>
                <a:latin typeface="Segoe UI Semibold"/>
              </a:rPr>
              <a:t>The extra hop: a script runs inside Ignition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E2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16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36776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2963C"/>
                </a:solidFill>
                <a:latin typeface="Consolas"/>
              </a:rPr>
              <a:t>THE WebDev SCRIPT'S OWN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29384"/>
            <a:ext cx="5084064" cy="3950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7E8E5"/>
                </a:solidFill>
                <a:latin typeface="Consolas"/>
              </a:rPr>
              <a:t>POST /system/webdev/Global/GatewayAPI/tags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7E8E5"/>
                </a:solidFill>
                <a:latin typeface="Consolas"/>
              </a:rPr>
              <a:t>{"paths": ["[default]Ramp/Ramp0"]}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7E8E5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7E8E5"/>
                </a:solidFill>
                <a:latin typeface="Consolas"/>
              </a:rPr>
              <a:t># inside the gateway JVM: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7E8E5"/>
                </a:solidFill>
                <a:latin typeface="Consolas"/>
              </a:rPr>
              <a:t>qv = system.tag.readBlocking(paths)[0]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7E8E5"/>
                </a:solidFill>
                <a:latin typeface="Consolas"/>
              </a:rPr>
              <a:t>return {'json': [{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7E8E5"/>
                </a:solidFill>
                <a:latin typeface="Consolas"/>
              </a:rPr>
              <a:t>  'path': '[default]Ramp/Ramp0',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7E8E5"/>
                </a:solidFill>
                <a:latin typeface="Consolas"/>
              </a:rPr>
              <a:t>  'value': 0.2443,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7E8E5"/>
                </a:solidFill>
                <a:latin typeface="Consolas"/>
              </a:rPr>
              <a:t>  'quality': 'Good',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7E8E5"/>
                </a:solidFill>
                <a:latin typeface="Consolas"/>
              </a:rPr>
              <a:t>  'timestamp': '2026-08-10 19:09:52'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7E8E5"/>
                </a:solidFill>
                <a:latin typeface="Consolas"/>
              </a:rPr>
              <a:t>}]}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50749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A96A1C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F"/>
                </a:solidFill>
                <a:latin typeface="Segoe UI"/>
              </a:rPr>
              <a:t>Same shape, one more hop. </a:t>
            </a:r>
            <a:r>
              <a:rPr sz="1500">
                <a:solidFill>
                  <a:srgbClr val="16211F"/>
                </a:solidFill>
                <a:latin typeface="Segoe UI"/>
              </a:rPr>
              <a:t>The result is still plain JSON by the time it leaves the gateway — the extra step is that Jython code, not another network call.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A96A1C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F"/>
                </a:solidFill>
                <a:latin typeface="Segoe UI"/>
              </a:rPr>
              <a:t>This is why WebDev bugs were harder. </a:t>
            </a:r>
            <a:r>
              <a:rPr sz="1500">
                <a:solidFill>
                  <a:srgbClr val="16211F"/>
                </a:solidFill>
                <a:latin typeface="Segoe UI"/>
              </a:rPr>
              <a:t>A native-REST 404 is a wrong URL. A WebDev 500 is a live traceback from code running inside Ignition's JVM.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A96A1C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F"/>
                </a:solidFill>
                <a:latin typeface="Segoe UI"/>
              </a:rPr>
              <a:t>Claude's answer: </a:t>
            </a:r>
            <a:r>
              <a:rPr sz="1500">
                <a:solidFill>
                  <a:srgbClr val="16211F"/>
                </a:solidFill>
                <a:latin typeface="Segoe UI"/>
              </a:rPr>
              <a:t>“[default]Ramp/Ramp0 currently reads 0.2443, quality Good.” — one number, four hops of translation behind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Worked example — WebDev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C7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6A1C"/>
                </a:solidFill>
                <a:latin typeface="Segoe UI Semibold"/>
              </a:rPr>
              <a:t>RESPONSE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11F"/>
                </a:solidFill>
                <a:latin typeface="Segoe UI Semibold"/>
              </a:rPr>
              <a:t>What kind of answer, at each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E2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90879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F6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82296" cy="960120"/>
          </a:xfrm>
          <a:prstGeom prst="rect">
            <a:avLst/>
          </a:prstGeom>
          <a:solidFill>
            <a:srgbClr val="0F6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2821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6E68"/>
                </a:solidFill>
                <a:latin typeface="Segoe UI Semibold"/>
              </a:rPr>
              <a:t>Ignition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6B68"/>
                </a:solidFill>
                <a:latin typeface="Consolas"/>
              </a:rPr>
              <a:t>HTTP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764792"/>
            <a:ext cx="7635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6211F"/>
                </a:solidFill>
                <a:latin typeface="Segoe UI"/>
              </a:rPr>
              <a:t>Raw JSON body (or, on the WebDev path, whatever the Jython doPost() returns as {'json': ...})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1090879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A4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97480"/>
            <a:ext cx="82296" cy="960120"/>
          </a:xfrm>
          <a:prstGeom prst="rect">
            <a:avLst/>
          </a:prstGeom>
          <a:solidFill>
            <a:srgbClr val="0A4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2549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4B47"/>
                </a:solidFill>
                <a:latin typeface="Segoe UI Semibold"/>
              </a:rPr>
              <a:t>MCP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8211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6B68"/>
                </a:solidFill>
                <a:latin typeface="Consolas"/>
              </a:rPr>
              <a:t>Tool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862072"/>
            <a:ext cx="7635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6211F"/>
                </a:solidFill>
                <a:latin typeface="Segoe UI"/>
              </a:rPr>
              <a:t>A Python dict/list — parsed JSON, or {"error": "..."} if the gateway call failed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1090879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62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94760"/>
            <a:ext cx="82296" cy="960120"/>
          </a:xfrm>
          <a:prstGeom prst="rect">
            <a:avLst/>
          </a:prstGeom>
          <a:solidFill>
            <a:srgbClr val="16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2277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211F"/>
                </a:solidFill>
                <a:latin typeface="Segoe UI Semibold"/>
              </a:rPr>
              <a:t>MCP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939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6B68"/>
                </a:solidFill>
                <a:latin typeface="Consolas"/>
              </a:rPr>
              <a:t>JSON-RPC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959352"/>
            <a:ext cx="7635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6211F"/>
                </a:solidFill>
                <a:latin typeface="Segoe UI"/>
              </a:rPr>
              <a:t>The tool result wrapped back into the MCP protocol envelope, sent over stdout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92040"/>
            <a:ext cx="1090879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96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892040"/>
            <a:ext cx="82296" cy="960120"/>
          </a:xfrm>
          <a:prstGeom prst="rect">
            <a:avLst/>
          </a:prstGeom>
          <a:solidFill>
            <a:srgbClr val="A9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2005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96A1C"/>
                </a:solidFill>
                <a:latin typeface="Segoe UI Semibold"/>
              </a:rPr>
              <a:t>Claude (agent)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7667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6B68"/>
                </a:solidFill>
                <a:latin typeface="Consolas"/>
              </a:rPr>
              <a:t>Natural language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5056632"/>
            <a:ext cx="7635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6211F"/>
                </a:solidFill>
                <a:latin typeface="Segoe UI"/>
              </a:rPr>
              <a:t>A written answer — numbers, tables, or a fix — grounded only in the structured data above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Response formulation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C7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2963C"/>
                </a:solidFill>
                <a:latin typeface="Segoe UI Semibold"/>
              </a:rPr>
              <a:t>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05840" cy="41148"/>
          </a:xfrm>
          <a:prstGeom prst="rect">
            <a:avLst/>
          </a:prstGeom>
          <a:solidFill>
            <a:srgbClr val="E2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Five components, two protocols, one honest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7899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E2963C"/>
                </a:solidFill>
                <a:latin typeface="Segoe UI"/>
              </a:rPr>
              <a:t>—  </a:t>
            </a:r>
            <a:r>
              <a:rPr sz="1600" b="1">
                <a:solidFill>
                  <a:srgbClr val="E7F0EE"/>
                </a:solidFill>
                <a:latin typeface="Segoe UI"/>
              </a:rPr>
              <a:t>Claude never touches the gateway directly. </a:t>
            </a:r>
            <a:r>
              <a:rPr sz="1600">
                <a:solidFill>
                  <a:srgbClr val="E7F0EE"/>
                </a:solidFill>
                <a:latin typeface="Segoe UI"/>
              </a:rPr>
              <a:t>Every fact in an answer traced back through a real tool call and a real HTTP response.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E2963C"/>
                </a:solidFill>
                <a:latin typeface="Segoe UI"/>
              </a:rPr>
              <a:t>—  </a:t>
            </a:r>
            <a:r>
              <a:rPr sz="1600" b="1">
                <a:solidFill>
                  <a:srgbClr val="E7F0EE"/>
                </a:solidFill>
                <a:latin typeface="Segoe UI"/>
              </a:rPr>
              <a:t>MCP is the contract, not the connection. </a:t>
            </a:r>
            <a:r>
              <a:rPr sz="1600">
                <a:solidFill>
                  <a:srgbClr val="E7F0EE"/>
                </a:solidFill>
                <a:latin typeface="Segoe UI"/>
              </a:rPr>
              <a:t>stdio + JSON-RPC between client and server; plain HTTP between server and gateway — two different transports, one protocol shape.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E2963C"/>
                </a:solidFill>
                <a:latin typeface="Segoe UI"/>
              </a:rPr>
              <a:t>—  </a:t>
            </a:r>
            <a:r>
              <a:rPr sz="1600" b="1">
                <a:solidFill>
                  <a:srgbClr val="E7F0EE"/>
                </a:solidFill>
                <a:latin typeface="Segoe UI"/>
              </a:rPr>
              <a:t>The gateway has two faces. </a:t>
            </a:r>
            <a:r>
              <a:rPr sz="1600">
                <a:solidFill>
                  <a:srgbClr val="E7F0EE"/>
                </a:solidFill>
                <a:latin typeface="Segoe UI"/>
              </a:rPr>
              <a:t>Native REST for config, hand-written WebDev/Jython for runtime data — and the second one is where deployed code can silently drift from what's documented.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E2963C"/>
                </a:solidFill>
                <a:latin typeface="Segoe UI"/>
              </a:rPr>
              <a:t>—  </a:t>
            </a:r>
            <a:r>
              <a:rPr sz="1600" b="1">
                <a:solidFill>
                  <a:srgbClr val="E7F0EE"/>
                </a:solidFill>
                <a:latin typeface="Segoe UI"/>
              </a:rPr>
              <a:t>A stdio MCP server needs a reconnect to see new code. </a:t>
            </a:r>
            <a:r>
              <a:rPr sz="1600">
                <a:solidFill>
                  <a:srgbClr val="E7F0EE"/>
                </a:solidFill>
                <a:latin typeface="Segoe UI"/>
              </a:rPr>
              <a:t>It's a subprocess spawned once at session start, not a live-reloading service.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E2963C"/>
                </a:solidFill>
                <a:latin typeface="Segoe UI"/>
              </a:rPr>
              <a:t>—  </a:t>
            </a:r>
            <a:r>
              <a:rPr sz="1600" b="1">
                <a:solidFill>
                  <a:srgbClr val="E7F0EE"/>
                </a:solidFill>
                <a:latin typeface="Segoe UI"/>
              </a:rPr>
              <a:t>Every example in this deck ran for real. </a:t>
            </a:r>
            <a:r>
              <a:rPr sz="1600">
                <a:solidFill>
                  <a:srgbClr val="E7F0EE"/>
                </a:solidFill>
                <a:latin typeface="Segoe UI"/>
              </a:rPr>
              <a:t>list_projects and read_tags("[default]Ramp/Ramp0") are both taken directly from this session's actual queries.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68"/>
                </a:solidFill>
                <a:latin typeface="Segoe U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C7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